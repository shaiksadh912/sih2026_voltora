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0000FF"/>
    <a:srgbClr val="010000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5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youtu.be/iz6N5fo75uA?si=RvOdJQqPJj75Z5D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hyperlink" Target="https://github.com/ShaikSadh912/SIH2026_VOLTRA.gi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6587111" TargetMode="External"/><Relationship Id="rId3" Type="http://schemas.openxmlformats.org/officeDocument/2006/relationships/hyperlink" Target="https://ieeexplore.ieee.org/document/7480150" TargetMode="External"/><Relationship Id="rId7" Type="http://schemas.openxmlformats.org/officeDocument/2006/relationships/hyperlink" Target="https://www.sihbuddy.in/ps/SIH2602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manticscholar.org/paper/High-Performance-Breaking-and-Intelligent-of-Yin-Lang/870529d8d48067bc4c9da7f55cc78739b85c1be3" TargetMode="External"/><Relationship Id="rId5" Type="http://schemas.openxmlformats.org/officeDocument/2006/relationships/hyperlink" Target="https://webstore.iec.ch/en/publication/21972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timesofindia.indiatimes.com/india/cea-urges-power-utilities-to-use-iot-tech-to-prevent-fires-caused-by-short-circuits/articleshow/132078151.cms" TargetMode="External"/><Relationship Id="rId9" Type="http://schemas.openxmlformats.org/officeDocument/2006/relationships/hyperlink" Target="https://ieeexplore.ieee.org/document/1025804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62572" y="353724"/>
            <a:ext cx="10031914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MINIATURE CIRCUIT BREAKER (MCB) ANALYSER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3355" y="1759171"/>
            <a:ext cx="66315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 ID –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26029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 Title-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Automated High-Current Short-Circuit Test System for IEC 60898-1:2015 MCB Compliance.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Theme-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Smart Automation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PS Category-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Hardware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Team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ID-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168797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Team Name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VOLTRA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 VOLTRA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6822" y="1453953"/>
            <a:ext cx="22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Problem Statement :</a:t>
            </a: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32715" y="1387831"/>
            <a:ext cx="215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Idea :</a:t>
            </a: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300" y="3838165"/>
            <a:ext cx="251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Proposed Solution :</a:t>
            </a: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2715" y="3850536"/>
            <a:ext cx="287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Uniqueness :</a:t>
            </a:r>
            <a:endParaRPr lang="en-IN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2E3B46-8E42-86E9-A781-1F6FFCA6DFA1}"/>
              </a:ext>
            </a:extLst>
          </p:cNvPr>
          <p:cNvSpPr/>
          <p:nvPr/>
        </p:nvSpPr>
        <p:spPr>
          <a:xfrm>
            <a:off x="6032715" y="1756308"/>
            <a:ext cx="5814548" cy="1974184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3FE645-1E93-5D5A-471B-A455A8889EB9}"/>
              </a:ext>
            </a:extLst>
          </p:cNvPr>
          <p:cNvSpPr/>
          <p:nvPr/>
        </p:nvSpPr>
        <p:spPr>
          <a:xfrm>
            <a:off x="336823" y="1786183"/>
            <a:ext cx="5332576" cy="189084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009EADF-8A53-F148-1D07-5E31A4BF1267}"/>
              </a:ext>
            </a:extLst>
          </p:cNvPr>
          <p:cNvSpPr/>
          <p:nvPr/>
        </p:nvSpPr>
        <p:spPr>
          <a:xfrm>
            <a:off x="304499" y="4219868"/>
            <a:ext cx="5332577" cy="20193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smart test system that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automates fault generation and MCB trip detection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with controlled switching.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monitors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voltage, current, waveforms, and response time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during the test.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system automatically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isolates the supply after fault detection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records the test results. 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F52FE31-4403-AEC7-9F1A-E5A0E3842E5E}"/>
              </a:ext>
            </a:extLst>
          </p:cNvPr>
          <p:cNvSpPr/>
          <p:nvPr/>
        </p:nvSpPr>
        <p:spPr>
          <a:xfrm>
            <a:off x="6059497" y="4207498"/>
            <a:ext cx="5760984" cy="2006848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Automated fault application </a:t>
            </a:r>
            <a:r>
              <a:rPr lang="en-GB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MCB tripping without manual intervention.</a:t>
            </a:r>
          </a:p>
          <a:p>
            <a:r>
              <a:rPr lang="en-GB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Modular R/XL selection </a:t>
            </a:r>
            <a:r>
              <a:rPr lang="en-GB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GB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real-time monitoring </a:t>
            </a:r>
            <a:r>
              <a:rPr lang="en-GB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of voltage, current, waveform, and trip response time.</a:t>
            </a:r>
          </a:p>
          <a:p>
            <a:r>
              <a:rPr lang="en-GB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Integrated safety control with automatic shutdown </a:t>
            </a:r>
            <a:r>
              <a:rPr lang="en-GB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during abnormal conditions, reducing operator involvement.</a:t>
            </a:r>
            <a:endParaRPr lang="en-IN" dirty="0">
              <a:solidFill>
                <a:srgbClr val="32323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Oval 45" descr="Your startup LOGO">
            <a:extLst>
              <a:ext uri="{FF2B5EF4-FFF2-40B4-BE49-F238E27FC236}">
                <a16:creationId xmlns:a16="http://schemas.microsoft.com/office/drawing/2014/main" id="{3954019C-7644-2D51-1936-33B0FF452363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142430" y="129001"/>
            <a:ext cx="1412050" cy="74885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VOLTRA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44773" y="162602"/>
            <a:ext cx="7469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MINIATURE CIRCUIT BREAKER (MCB) ANALYSER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5053" y="549247"/>
            <a:ext cx="8691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MCB ANALYSER is an automated MCB testing system that measures current, detects tripping, calculates trip time, and logs the test results for IEC 60898-1:2015-based demonstration.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123" y="1837559"/>
            <a:ext cx="5318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develop an </a:t>
            </a:r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system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perform and </a:t>
            </a:r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these MCB short-circuit tests accurately, safely, and </a:t>
            </a:r>
            <a:r>
              <a:rPr lang="en-GB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repeatedly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.Existing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MCB testing methods can involve </a:t>
            </a:r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manual setup and repeated wiring,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the testing process time-consuming and </a:t>
            </a:r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 consistently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3870" y="1727738"/>
            <a:ext cx="55471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MCB Testing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applies controlled load conditions and monitors MCB operation.</a:t>
            </a:r>
          </a:p>
          <a:p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Measurement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voltage and current using sensors and detects the trip condition.</a:t>
            </a:r>
          </a:p>
          <a:p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IEC 60898-1:2015 Reference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the MCB testing and trip-time monitoring concept based on the standard.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 VOLTRA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142430" y="129001"/>
            <a:ext cx="1412050" cy="74885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VOLTRA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2430" y="885764"/>
            <a:ext cx="273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Technologies Involved : </a:t>
            </a:r>
          </a:p>
        </p:txBody>
      </p:sp>
      <p:sp>
        <p:nvSpPr>
          <p:cNvPr id="13" name="TextBox 12">
            <a:hlinkClick r:id="rId4"/>
          </p:cNvPr>
          <p:cNvSpPr txBox="1"/>
          <p:nvPr/>
        </p:nvSpPr>
        <p:spPr>
          <a:xfrm>
            <a:off x="6204155" y="4615472"/>
            <a:ext cx="5962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GitHub Link : </a:t>
            </a:r>
            <a:r>
              <a:rPr lang="en-IN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https://github.com/ShaikSadh912/SIH2026_VOLTRA.git</a:t>
            </a:r>
            <a:r>
              <a:rPr lang="en-IN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7222" y="5589254"/>
            <a:ext cx="5762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Product Status 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80% of work has been completed and remaining work is still in progress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30051" y="885764"/>
            <a:ext cx="247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System Architecture </a:t>
            </a:r>
            <a:r>
              <a:rPr lang="en-IN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875" y="3720762"/>
            <a:ext cx="2392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Prototype :</a:t>
            </a:r>
          </a:p>
        </p:txBody>
      </p:sp>
      <p:sp>
        <p:nvSpPr>
          <p:cNvPr id="26" name="Flowchart: Alternative Process 25">
            <a:extLst>
              <a:ext uri="{FF2B5EF4-FFF2-40B4-BE49-F238E27FC236}">
                <a16:creationId xmlns:a16="http://schemas.microsoft.com/office/drawing/2014/main" id="{D51D1BF9-8368-01E7-4CB7-98FF83B110ED}"/>
              </a:ext>
            </a:extLst>
          </p:cNvPr>
          <p:cNvSpPr/>
          <p:nvPr/>
        </p:nvSpPr>
        <p:spPr>
          <a:xfrm>
            <a:off x="142430" y="1339806"/>
            <a:ext cx="5376672" cy="2348418"/>
          </a:xfrm>
          <a:prstGeom prst="flowChartAlternateProcess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7FB590-684E-BEC6-E956-89232E36EE73}"/>
              </a:ext>
            </a:extLst>
          </p:cNvPr>
          <p:cNvSpPr txBox="1"/>
          <p:nvPr/>
        </p:nvSpPr>
        <p:spPr>
          <a:xfrm>
            <a:off x="228312" y="1374675"/>
            <a:ext cx="52212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itchFamily="18" charset="0"/>
              </a:rPr>
              <a:t>Arduino UNO</a:t>
            </a:r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 : </a:t>
            </a:r>
            <a:r>
              <a:rPr lang="en-IN" dirty="0">
                <a:latin typeface="Times New Roman" panose="02020603050405020304" pitchFamily="18" charset="0"/>
                <a:cs typeface="Times New Roman" pitchFamily="18" charset="0"/>
              </a:rPr>
              <a:t>Main controller for automated test sequencing and relay control.</a:t>
            </a:r>
          </a:p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itchFamily="18" charset="0"/>
              </a:rPr>
              <a:t>Relay-based switching </a:t>
            </a:r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itchFamily="18" charset="0"/>
              </a:rPr>
              <a:t> Automated R/XL selection, fault generation, and MCB trip simulation</a:t>
            </a:r>
          </a:p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itchFamily="18" charset="0"/>
              </a:rPr>
              <a:t>Proteus 8 </a:t>
            </a:r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itchFamily="18" charset="0"/>
              </a:rPr>
              <a:t>Circuit design and simulation of the complete prototype.</a:t>
            </a:r>
          </a:p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itchFamily="18" charset="0"/>
              </a:rPr>
              <a:t>Data analysis, visualization, and test-result processing.</a:t>
            </a:r>
          </a:p>
          <a:p>
            <a:endParaRPr lang="en-IN" dirty="0">
              <a:latin typeface="Times New Roman" panose="02020603050405020304" pitchFamily="18" charset="0"/>
              <a:cs typeface="Times New Roman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EA5CF-E195-C235-9BAD-E818E3449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03" y="4065737"/>
            <a:ext cx="5134325" cy="223789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074" y="1297939"/>
            <a:ext cx="4213781" cy="33830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1621AA-81CC-313C-59AC-861AE869B75C}"/>
              </a:ext>
            </a:extLst>
          </p:cNvPr>
          <p:cNvSpPr txBox="1"/>
          <p:nvPr/>
        </p:nvSpPr>
        <p:spPr>
          <a:xfrm>
            <a:off x="6204155" y="5115785"/>
            <a:ext cx="657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Video Link : </a:t>
            </a:r>
            <a:r>
              <a:rPr lang="en-IN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hlinkClick r:id="rId7"/>
              </a:rPr>
              <a:t>https://youtu.be/iz6N5fo75uA?si=RvOdJQqPJj75Z5D6</a:t>
            </a:r>
            <a:endParaRPr lang="en-IN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lowchart: Alternative Process 56">
            <a:extLst>
              <a:ext uri="{FF2B5EF4-FFF2-40B4-BE49-F238E27FC236}">
                <a16:creationId xmlns:a16="http://schemas.microsoft.com/office/drawing/2014/main" id="{C846B7AB-58F4-DA90-1C80-5008EE067E81}"/>
              </a:ext>
            </a:extLst>
          </p:cNvPr>
          <p:cNvSpPr/>
          <p:nvPr/>
        </p:nvSpPr>
        <p:spPr>
          <a:xfrm>
            <a:off x="6876272" y="4331013"/>
            <a:ext cx="5111992" cy="1955488"/>
          </a:xfrm>
          <a:prstGeom prst="flowChartAlternateProcess">
            <a:avLst/>
          </a:prstGeom>
          <a:solidFill>
            <a:schemeClr val="bg1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Flowchart: Alternative Process 50">
            <a:extLst>
              <a:ext uri="{FF2B5EF4-FFF2-40B4-BE49-F238E27FC236}">
                <a16:creationId xmlns:a16="http://schemas.microsoft.com/office/drawing/2014/main" id="{72C5186C-CC5A-B8A4-0461-A6D0F475F466}"/>
              </a:ext>
            </a:extLst>
          </p:cNvPr>
          <p:cNvSpPr/>
          <p:nvPr/>
        </p:nvSpPr>
        <p:spPr>
          <a:xfrm>
            <a:off x="6698964" y="1145501"/>
            <a:ext cx="5040053" cy="2359763"/>
          </a:xfrm>
          <a:prstGeom prst="flowChartAlternateProcess">
            <a:avLst/>
          </a:prstGeom>
          <a:solidFill>
            <a:schemeClr val="bg1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Flowchart: Alternative Process 35">
            <a:extLst>
              <a:ext uri="{FF2B5EF4-FFF2-40B4-BE49-F238E27FC236}">
                <a16:creationId xmlns:a16="http://schemas.microsoft.com/office/drawing/2014/main" id="{912BEA96-C45D-B375-EC0B-FF4AB9418D96}"/>
              </a:ext>
            </a:extLst>
          </p:cNvPr>
          <p:cNvSpPr/>
          <p:nvPr/>
        </p:nvSpPr>
        <p:spPr>
          <a:xfrm>
            <a:off x="112552" y="1186447"/>
            <a:ext cx="5281301" cy="2524717"/>
          </a:xfrm>
          <a:prstGeom prst="flowChartAlternateProcess">
            <a:avLst/>
          </a:prstGeom>
          <a:solidFill>
            <a:schemeClr val="bg1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is technically feasible using embedded control, automated relay switching, voltage/current sensing, and real-time data acquisition, with a scalable architecture for future high-current laboratory implementation and IEC-based testing.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Flowchart: Alternative Process 46">
            <a:extLst>
              <a:ext uri="{FF2B5EF4-FFF2-40B4-BE49-F238E27FC236}">
                <a16:creationId xmlns:a16="http://schemas.microsoft.com/office/drawing/2014/main" id="{6F0ACAEB-D1EC-95D7-2964-B44DFBDDC886}"/>
              </a:ext>
            </a:extLst>
          </p:cNvPr>
          <p:cNvSpPr/>
          <p:nvPr/>
        </p:nvSpPr>
        <p:spPr>
          <a:xfrm>
            <a:off x="142430" y="4313197"/>
            <a:ext cx="5263343" cy="1955488"/>
          </a:xfrm>
          <a:prstGeom prst="flowChartAlternateProcess">
            <a:avLst/>
          </a:prstGeom>
          <a:solidFill>
            <a:schemeClr val="bg1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262684D-7E86-46E7-8367-E03D786891E1}"/>
              </a:ext>
            </a:extLst>
          </p:cNvPr>
          <p:cNvSpPr/>
          <p:nvPr/>
        </p:nvSpPr>
        <p:spPr>
          <a:xfrm>
            <a:off x="5040893" y="2957232"/>
            <a:ext cx="2230570" cy="168858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Promoting innovation in safer and smarter electrical infrastructure.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7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Supporting safer and more reliable electrical energy systems.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 VOLTRA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2463" y="817115"/>
            <a:ext cx="2717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Technical Feasibility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172" y="3917570"/>
            <a:ext cx="323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Challenges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836" y="765633"/>
            <a:ext cx="2717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Economical Feasibility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8914" y="3912394"/>
            <a:ext cx="273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Strategies 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718710-BCC4-2687-40AB-07A4F039E77F}"/>
              </a:ext>
            </a:extLst>
          </p:cNvPr>
          <p:cNvSpPr txBox="1"/>
          <p:nvPr/>
        </p:nvSpPr>
        <p:spPr>
          <a:xfrm>
            <a:off x="208953" y="1206808"/>
            <a:ext cx="49038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Scalable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Modular design supports 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future expansion to higher-current testing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Reliable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Automated switching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and real-time sensing ensure 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consistent operation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Resources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 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Required components and development resources are 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readily available and cost-effective.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Feasible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Embedded control enables 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monitoring, protection, and data acquisition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F2CF49-6C6C-74F4-7DC0-01C2D9E86530}"/>
              </a:ext>
            </a:extLst>
          </p:cNvPr>
          <p:cNvSpPr txBox="1"/>
          <p:nvPr/>
        </p:nvSpPr>
        <p:spPr>
          <a:xfrm>
            <a:off x="112552" y="4463914"/>
            <a:ext cx="5494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Achieving precise and repeatable high-current test conditions while </a:t>
            </a:r>
            <a:r>
              <a:rPr lang="en-IN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controlling R/XL combinations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Ensuring </a:t>
            </a:r>
            <a:r>
              <a:rPr lang="en-IN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safe fault generation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rapid isolation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during high-energy short-circuit events.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Accurately capturing </a:t>
            </a:r>
            <a:r>
              <a:rPr lang="en-IN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high-speed voltage, current, waveform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and MCB response-time data.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4AD1DE-823A-7650-59E0-25E1727A10EC}"/>
              </a:ext>
            </a:extLst>
          </p:cNvPr>
          <p:cNvSpPr txBox="1"/>
          <p:nvPr/>
        </p:nvSpPr>
        <p:spPr>
          <a:xfrm>
            <a:off x="6759429" y="1296554"/>
            <a:ext cx="5082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Lower Cost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Uses affordable, reusable components and simple circuitry.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Lower Labour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Automation reduces manual testing and operator effort.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Lower Operating Cost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Reduces testing time and resource usage.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428EAB-5D9D-0C33-5EF6-31B6771A2BF5}"/>
              </a:ext>
            </a:extLst>
          </p:cNvPr>
          <p:cNvSpPr txBox="1"/>
          <p:nvPr/>
        </p:nvSpPr>
        <p:spPr>
          <a:xfrm>
            <a:off x="6876272" y="4667693"/>
            <a:ext cx="5205983" cy="148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Automate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R/XL selection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fault generation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Monitor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voltage, current, waveform, and trip response in real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Ensure safety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through </a:t>
            </a: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automatic fault isolation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protection mechanisms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Oval 66" descr="Your startup LOGO">
            <a:extLst>
              <a:ext uri="{FF2B5EF4-FFF2-40B4-BE49-F238E27FC236}">
                <a16:creationId xmlns:a16="http://schemas.microsoft.com/office/drawing/2014/main" id="{01450D81-0FD1-514C-AD1E-4FF140367C5C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112552" y="88105"/>
            <a:ext cx="1412050" cy="6946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VOLTRA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835" y="3505264"/>
            <a:ext cx="561559" cy="40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 VOLTRA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953328"/>
            <a:ext cx="5042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Direct Beneficiaries who are Impacting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7" y="953328"/>
            <a:ext cx="319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Strategic Benefits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4" y="3418318"/>
            <a:ext cx="389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Strategic Impact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0243" y="3435410"/>
            <a:ext cx="239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Economical Impact :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F2A1458-AB2F-330D-5576-D5CA673A3456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142430" y="129001"/>
            <a:ext cx="1412050" cy="74885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VOLTRA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owchart: Alternative Process 3">
            <a:extLst>
              <a:ext uri="{FF2B5EF4-FFF2-40B4-BE49-F238E27FC236}">
                <a16:creationId xmlns:a16="http://schemas.microsoft.com/office/drawing/2014/main" id="{CA7B0744-EBD5-F467-000B-BD3B83C68E04}"/>
              </a:ext>
            </a:extLst>
          </p:cNvPr>
          <p:cNvSpPr/>
          <p:nvPr/>
        </p:nvSpPr>
        <p:spPr>
          <a:xfrm>
            <a:off x="142429" y="1426463"/>
            <a:ext cx="5207237" cy="1822586"/>
          </a:xfrm>
          <a:prstGeom prst="flowChartAlternateProcess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DC1153-8EF9-F7F2-ABDD-2E58B414E127}"/>
              </a:ext>
            </a:extLst>
          </p:cNvPr>
          <p:cNvSpPr txBox="1"/>
          <p:nvPr/>
        </p:nvSpPr>
        <p:spPr>
          <a:xfrm>
            <a:off x="94004" y="1494723"/>
            <a:ext cx="54607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MCB Manufacturers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Faster and more consistent product testing.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Testing &amp; Certification Laboratories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Automated testing and reliable data collection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Electrical Safety Authorities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Improved verification and safety assurance.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Flowchart: Alternative Process 21">
            <a:extLst>
              <a:ext uri="{FF2B5EF4-FFF2-40B4-BE49-F238E27FC236}">
                <a16:creationId xmlns:a16="http://schemas.microsoft.com/office/drawing/2014/main" id="{304AE001-256D-7355-F308-E51BA891DBED}"/>
              </a:ext>
            </a:extLst>
          </p:cNvPr>
          <p:cNvSpPr/>
          <p:nvPr/>
        </p:nvSpPr>
        <p:spPr>
          <a:xfrm>
            <a:off x="6318504" y="1435607"/>
            <a:ext cx="5632171" cy="1822586"/>
          </a:xfrm>
          <a:prstGeom prst="flowChartAlternateProcess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Alternative Process 24">
            <a:extLst>
              <a:ext uri="{FF2B5EF4-FFF2-40B4-BE49-F238E27FC236}">
                <a16:creationId xmlns:a16="http://schemas.microsoft.com/office/drawing/2014/main" id="{010BE114-AA26-948E-01CC-15C8A5C4059D}"/>
              </a:ext>
            </a:extLst>
          </p:cNvPr>
          <p:cNvSpPr/>
          <p:nvPr/>
        </p:nvSpPr>
        <p:spPr>
          <a:xfrm>
            <a:off x="142430" y="3977640"/>
            <a:ext cx="5207236" cy="1927032"/>
          </a:xfrm>
          <a:prstGeom prst="flowChartAlternateProcess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lowchart: Alternative Process 27">
            <a:extLst>
              <a:ext uri="{FF2B5EF4-FFF2-40B4-BE49-F238E27FC236}">
                <a16:creationId xmlns:a16="http://schemas.microsoft.com/office/drawing/2014/main" id="{A4E6255E-E152-934C-BB1B-8AF46A68D669}"/>
              </a:ext>
            </a:extLst>
          </p:cNvPr>
          <p:cNvSpPr/>
          <p:nvPr/>
        </p:nvSpPr>
        <p:spPr>
          <a:xfrm>
            <a:off x="6264424" y="4035713"/>
            <a:ext cx="5508874" cy="1927032"/>
          </a:xfrm>
          <a:prstGeom prst="flowChartAlternateProcess">
            <a:avLst/>
          </a:prstGeom>
          <a:solidFill>
            <a:schemeClr val="bg1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BCA40A-7D32-F935-0025-1D8DAE54C597}"/>
              </a:ext>
            </a:extLst>
          </p:cNvPr>
          <p:cNvSpPr txBox="1"/>
          <p:nvPr/>
        </p:nvSpPr>
        <p:spPr>
          <a:xfrm>
            <a:off x="6250200" y="4150346"/>
            <a:ext cx="56402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Accessibility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Uses readily available, affordable components for easy adoption.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Employment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Creates opportunities in automation, testing, and electrical system development.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Cost Benefit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Reduces equipment, labour, and testing costs through automation.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6182" y="3934784"/>
            <a:ext cx="49197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components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controlled testing 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material and energy wastage.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enables 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faster, consistent, and repeatable testing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fault detection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shutdown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operator exposure.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7633" y="1485076"/>
            <a:ext cx="56321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Delivery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reliable, and consistent MCB testing.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Impact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platform for future testing and laboratory applications.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Transfer: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training, research, and laboratory development in automated testing.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0EAF5B0-4E6D-D6E0-91BC-133F8C8A4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1752" y="618574"/>
            <a:ext cx="3291840" cy="1063401"/>
          </a:xfrm>
        </p:spPr>
        <p:txBody>
          <a:bodyPr/>
          <a:lstStyle/>
          <a:p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sz="1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sz="1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120C87B9-0FD0-F838-9965-8116634DD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007" y="1422695"/>
            <a:ext cx="11301984" cy="474608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– Design and Construction of an Automated Test Bench for MCB Testing</a:t>
            </a:r>
          </a:p>
          <a:p>
            <a:pPr algn="just"/>
            <a:r>
              <a:rPr lang="en-US" sz="1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https://ieeexplore.ieee.org/document/7480150</a:t>
            </a:r>
            <a:endParaRPr lang="en-US" sz="1800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of India – CEA urges power utilities to use IoT technology to prevent short-circuit fires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https://timesofindia.indiatimes.com/india/cea-urges-power-utilities-to-use-iot-tech-to-prevent-fires-caused-by-short-circuits/articleshow/132078151.cms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IEC 60898-1:2015 — Short-circuit test section reference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https://webstore.iec.ch/en/publication/21972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Breaking and Intelligent of Miniature Circuit Breakers 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https://www.semanticscholar.org/paper/High-Performance-Breaking-and-Intelligent-of-Yin-Lang/870529d8d48067bc4c9da7f55cc78739b85c1be3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High-Current Short Circuit Test System for MCB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https://www.sihbuddy.in/ps/SIH26029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Circuit-Breaker Automated Failure Tracking Based on Coil Current Signature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https://ieeexplore.ieee.org/document/6587111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Guide for Power System Protection Testing (C37.233-2023)</a:t>
            </a:r>
          </a:p>
          <a:p>
            <a:pPr algn="just"/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https://ieeexplore.ieee.org/document/10258048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 VOLTRA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3450D2CC-6161-66B7-2A4A-F3B79140B86C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142430" y="129001"/>
            <a:ext cx="1412050" cy="74885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VOLTRA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8136</TotalTime>
  <Words>877</Words>
  <Application>Microsoft Office PowerPoint</Application>
  <PresentationFormat>Widescreen</PresentationFormat>
  <Paragraphs>106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</vt:lpstr>
      <vt:lpstr>PowerPoint Presentation</vt:lpstr>
      <vt:lpstr>PowerPoint Presentation</vt:lpstr>
      <vt:lpstr>PowerPoint Presentation</vt:lpstr>
      <vt:lpstr>REFERENCE :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HI</cp:lastModifiedBy>
  <cp:revision>197</cp:revision>
  <dcterms:created xsi:type="dcterms:W3CDTF">2013-12-12T18:46:50Z</dcterms:created>
  <dcterms:modified xsi:type="dcterms:W3CDTF">2026-09-24T13:11:54Z</dcterms:modified>
</cp:coreProperties>
</file>